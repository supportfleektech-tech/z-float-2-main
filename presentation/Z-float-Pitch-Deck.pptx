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 every Kenyan business must now invoice through KRA eTIMS, and nearly all of them already move money on M-Pesa. Z-float joins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forces collide: mobile money is how Kenya pays, and eTIMS is now how Kenya taxes.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a finance team stitches together 4–5 tools and a spreadsheet.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Z-float replaces the patchwork with one account and one ledger.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walkthrough: issue a tax invoice with VAT computed per line, send an STK prompt, and the receipt is issued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Collections view: every channel lands in one list, with payer identity and the eTIMS receipt.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we sell to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 lines. Numbers are illustrative pricing to validate with design partners.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we compete and why we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real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Milestones for the next 12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what we are asking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73152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14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786384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Z-float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4980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The money &amp; tax OS</a:t>
            </a:r>
            <a:br/>
            <a:r>
              <a:rPr sz="4400" b="1">
                <a:solidFill>
                  <a:srgbClr val="FFFFFF"/>
                </a:solidFill>
                <a:latin typeface="Calibri"/>
              </a:rPr>
              <a:t>for Kenyan businesses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6EA"/>
                </a:solidFill>
                <a:latin typeface="Calibri"/>
              </a:rPr>
              <a:t>Pay suppliers and staff, collect from customers, and issue KRA eTIMS invoices — from one account.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FA3BF"/>
                </a:solidFill>
                <a:latin typeface="Calibri"/>
              </a:rPr>
              <a:t>Pitch deck · 2026</a:t>
            </a:r>
          </a:p>
        </p:txBody>
      </p:sp>
      <p:pic>
        <p:nvPicPr>
          <p:cNvPr id="8" name="Picture 7" descr="rece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371600"/>
            <a:ext cx="3840480" cy="35597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63FF"/>
                </a:solidFill>
                <a:latin typeface="Calibri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M-Pesa is how Kenya pays. eTIMS is how it taxes.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63FF"/>
                </a:solidFill>
                <a:latin typeface="Calibri"/>
              </a:rPr>
              <a:t>KES 38.3T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moved on M-Pesa in FY2025 (37.2 billion transactions)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B83"/>
                </a:solidFill>
                <a:latin typeface="Calibri"/>
              </a:rPr>
              <a:t>Safaricom Annual Report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61688" y="182880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63FF"/>
                </a:solidFill>
                <a:latin typeface="Calibri"/>
              </a:rPr>
              <a:t>2.4M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1688" y="25603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M-Pesa merchants — 0.9M Lipa na M-Pesa tills + 1.5M Pochi la Biashara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30632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B83"/>
                </a:solidFill>
                <a:latin typeface="Calibri"/>
              </a:rPr>
              <a:t>Safaricom H1 FY2026 results (Nov 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82880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63FF"/>
                </a:solidFill>
                <a:latin typeface="Calibri"/>
              </a:rP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25603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of an expense is deductible without an eTIMS invoice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30632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B83"/>
                </a:solidFill>
                <a:latin typeface="Calibri"/>
              </a:rPr>
              <a:t>Tax Procedures Act, Finance Act 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77639"/>
            <a:ext cx="10881360" cy="1737360"/>
          </a:xfrm>
          <a:prstGeom prst="roundRect">
            <a:avLst>
              <a:gd name="adj" fmla="val 6315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From the 2025 accounting period KRA validates declared income and expenses against eTIMS data on iTax. Failing to issue an eTIMS invoice costs double the tax due or KES 2 million, whichever is higher.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463FF"/>
                </a:solidFill>
                <a:latin typeface="Calibri"/>
              </a:rPr>
              <a:t>Every business that collects on M-Pesa now needs a compliant invoice or receipt for each sale — and a way to link it to the payment.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Z-float · Business payments for Kenya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63FF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Five tools and a spreadsheet to run the money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874519" cy="13716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029968"/>
            <a:ext cx="1600199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M-Pesa portal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83"/>
                </a:solidFill>
                <a:latin typeface="Calibri"/>
              </a:rPr>
              <a:t>payouts one by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377440"/>
            <a:ext cx="3749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463FF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9504" y="1920240"/>
            <a:ext cx="1874519" cy="13716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026664" y="2029968"/>
            <a:ext cx="1600199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Paybill statement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83"/>
                </a:solidFill>
                <a:latin typeface="Calibri"/>
              </a:rPr>
              <a:t>who paid what?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4024" y="2377440"/>
            <a:ext cx="3749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463FF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38928" y="1920240"/>
            <a:ext cx="1874519" cy="13716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276088" y="2029968"/>
            <a:ext cx="1600199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Invoicing app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83"/>
                </a:solidFill>
                <a:latin typeface="Calibri"/>
              </a:rPr>
              <a:t>not linked to 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3448" y="2377440"/>
            <a:ext cx="3749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463FF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8352" y="1920240"/>
            <a:ext cx="1874519" cy="13716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25512" y="2029968"/>
            <a:ext cx="1600199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eTIMS portal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83"/>
                </a:solidFill>
                <a:latin typeface="Calibri"/>
              </a:rPr>
              <a:t>retype every sale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2377440"/>
            <a:ext cx="3749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463FF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37776" y="1920240"/>
            <a:ext cx="1874519" cy="13716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774936" y="2029968"/>
            <a:ext cx="1600199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Spreadsheet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83"/>
                </a:solidFill>
                <a:latin typeface="Calibri"/>
              </a:rPr>
              <a:t>reconcile by hand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49039"/>
            <a:ext cx="108813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463FF"/>
                </a:solidFill>
                <a:latin typeface="Calibri"/>
              </a:rPr>
              <a:t>•  </a:t>
            </a:r>
            <a:r>
              <a:rPr sz="1600" b="0">
                <a:solidFill>
                  <a:srgbClr val="0F172A"/>
                </a:solidFill>
                <a:latin typeface="Calibri"/>
              </a:rPr>
              <a:t>Hours lost every week matching payments to invoices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463FF"/>
                </a:solidFill>
                <a:latin typeface="Calibri"/>
              </a:rPr>
              <a:t>•  </a:t>
            </a:r>
            <a:r>
              <a:rPr sz="1600" b="0">
                <a:solidFill>
                  <a:srgbClr val="0F172A"/>
                </a:solidFill>
                <a:latin typeface="Calibri"/>
              </a:rPr>
              <a:t>Tax exposure: sales without eTIMS invoices, expenses disallowed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463FF"/>
                </a:solidFill>
                <a:latin typeface="Calibri"/>
              </a:rPr>
              <a:t>•  </a:t>
            </a:r>
            <a:r>
              <a:rPr sz="1600" b="0">
                <a:solidFill>
                  <a:srgbClr val="0F172A"/>
                </a:solidFill>
                <a:latin typeface="Calibri"/>
              </a:rPr>
              <a:t>Fraud risk: payees identified only by phone numbers, no approvals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463FF"/>
                </a:solidFill>
                <a:latin typeface="Calibri"/>
              </a:rPr>
              <a:t>•  </a:t>
            </a:r>
            <a:r>
              <a:rPr sz="1600" b="0">
                <a:solidFill>
                  <a:srgbClr val="0F172A"/>
                </a:solidFill>
                <a:latin typeface="Calibri"/>
              </a:rPr>
              <a:t>No single balance that finance, owners and auditors agree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Z-float · Business payments for Kenya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63FF"/>
                </a:solidFill>
                <a:latin typeface="Calibri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One account: pay out, get paid, stay compliant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73152" cy="2377440"/>
          </a:xfrm>
          <a:prstGeom prst="rect">
            <a:avLst/>
          </a:prstGeom>
          <a:solidFill>
            <a:srgbClr val="14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632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Calibri"/>
              </a:rPr>
              <a:t>Pay out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Bulk &amp; single M-Pesa / bank payouts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Payroll, suppliers, bills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Approvals &amp; limits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343400" y="1737360"/>
            <a:ext cx="73152" cy="237744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30632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Calibri"/>
              </a:rPr>
              <a:t>Get paid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STK request-to-pay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Paybill routing to invoices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Links &amp; bank transfers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73736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046719" y="1737360"/>
            <a:ext cx="73152" cy="23774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30632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Calibri"/>
              </a:rPr>
              <a:t>Comply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KRA eTIMS invoices &amp; receipts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Auto receipt on every payment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ID + KRA PIN on every party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10881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The loop no one else closes:</a:t>
            </a: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463FF"/>
                </a:solidFill>
                <a:latin typeface="Calibri"/>
              </a:rPr>
              <a:t>invoice  →  M-Pesa prompt  →  wallet credited  →  invoice PAID  →  KRA-signed receipt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Z-float · Business payments for Kenya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63FF"/>
                </a:solidFill>
                <a:latin typeface="Calibri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Invoice → prompt → paid → KRA receipt, in one screen</a:t>
            </a:r>
          </a:p>
        </p:txBody>
      </p:sp>
      <p:pic>
        <p:nvPicPr>
          <p:cNvPr id="4" name="Picture 3" descr="newinv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5440680" cy="3778250"/>
          </a:xfrm>
          <a:prstGeom prst="rect">
            <a:avLst/>
          </a:prstGeom>
          <a:ln w="9525">
            <a:solidFill>
              <a:srgbClr val="D9E1EC"/>
            </a:solidFill>
          </a:ln>
        </p:spPr>
      </p:pic>
      <p:pic>
        <p:nvPicPr>
          <p:cNvPr id="5" name="Picture 4" descr="invo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45920"/>
            <a:ext cx="5303520" cy="3683000"/>
          </a:xfrm>
          <a:prstGeom prst="rect">
            <a:avLst/>
          </a:prstGeom>
          <a:ln w="9525">
            <a:solidFill>
              <a:srgbClr val="D9E1E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B83"/>
                </a:solidFill>
                <a:latin typeface="Calibri"/>
              </a:rPr>
              <a:t>Live product screens (sandbox). Left: new tax invoice with KRA tax bands. Right: signed invoices, receipts and credit notes with KRA CU numbers.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Z-float · Business payments for Kenya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63FF"/>
                </a:solidFill>
                <a:latin typeface="Calibri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Every shilling in, with who paid and the receipt</a:t>
            </a:r>
          </a:p>
        </p:txBody>
      </p:sp>
      <p:pic>
        <p:nvPicPr>
          <p:cNvPr id="4" name="Picture 3" descr="coll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583680" cy="4572000"/>
          </a:xfrm>
          <a:prstGeom prst="rect">
            <a:avLst/>
          </a:prstGeom>
          <a:ln w="9525">
            <a:solidFill>
              <a:srgbClr val="D9E1EC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543800" y="1737360"/>
            <a:ext cx="40233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Received today, 30-day totals, pending prompts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Payer name, phone, ID and KRA PIN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M-Pesa receipt number + linked eTIMS receipt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Unmatched paybill money parked for reconciliation — never lost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Webhooks: collection.received, invoice.fiscalised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Z-float · Business payments for Kenya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63FF"/>
                </a:solidFill>
                <a:latin typeface="Calibri"/>
              </a:rPr>
              <a:t>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Built for businesses that already live on M-Pesa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73152" cy="1920240"/>
          </a:xfrm>
          <a:prstGeom prst="rect">
            <a:avLst/>
          </a:prstGeom>
          <a:solidFill>
            <a:srgbClr val="14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892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Distributors &amp; wholesalers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High volumes of paybill receipts to match to invoices; VAT-registered buyers demand PIN-bearing invoices.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172200" y="1737360"/>
            <a:ext cx="73152" cy="192024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892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Service businesses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Clinics, schools, agencies: request-to-pay and automatic receipts replace manual books.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3886200"/>
            <a:ext cx="73152" cy="19202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892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Employers &amp; agri-aggregators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Bulk payouts to staff and farmers, with ID-verified payees and approvals.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8620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3886200"/>
            <a:ext cx="73152" cy="1920240"/>
          </a:xfrm>
          <a:prstGeom prst="rect">
            <a:avLst/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46520" y="4069080"/>
            <a:ext cx="4892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Accountants &amp; bookkeepers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5B6B83"/>
                </a:solidFill>
                <a:latin typeface="Calibri"/>
              </a:rPr>
              <a:t>Manage many clients' eTIMS compliance and reconciliation from one login.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Z-float · Business payments for Kenya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63FF"/>
                </a:solidFill>
                <a:latin typeface="Calibri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Subscription + transaction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26060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21945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Platform subscription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1463FF"/>
                </a:solidFill>
                <a:latin typeface="Calibri"/>
              </a:rPr>
              <a:t>per month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Tiered by users &amp; eTIMS devices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Includes invoices, receipts, approvals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737360"/>
            <a:ext cx="26060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0" y="1920240"/>
            <a:ext cx="21945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Payout fees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1463FF"/>
                </a:solidFill>
                <a:latin typeface="Calibri"/>
              </a:rPr>
              <a:t>per transaction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Margin over M-Pesa / bank tariffs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Bulk &amp; payroll bundles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26060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21945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Collection fees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1463FF"/>
                </a:solidFill>
                <a:latin typeface="Calibri"/>
              </a:rPr>
              <a:t>% of value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STK, paybill routing, payment links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Waived on higher tiers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39" y="1737360"/>
            <a:ext cx="26060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235439" y="1920240"/>
            <a:ext cx="21945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Compliance add-ons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1463FF"/>
                </a:solidFill>
                <a:latin typeface="Calibri"/>
              </a:rPr>
              <a:t>per client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Accountant multi-client workspace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63FF"/>
                </a:solidFill>
                <a:latin typeface="Calibri"/>
              </a:rPr>
              <a:t>•  </a:t>
            </a:r>
            <a:r>
              <a:rPr sz="1300" b="0">
                <a:solidFill>
                  <a:srgbClr val="5B6B83"/>
                </a:solidFill>
                <a:latin typeface="Calibri"/>
              </a:rPr>
              <a:t>Expense validation &amp;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B83"/>
                </a:solidFill>
                <a:latin typeface="Calibri"/>
              </a:rPr>
              <a:t>Pricing to be validated with design partners; fee levels are set per tier in the platform’s fee schedules today.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Z-float · Business payments for Kenya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63FF"/>
                </a:solidFill>
                <a:latin typeface="Calibri"/>
              </a:rPr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Others do one piece. Z-float closes the loop.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10881360" cy="658368"/>
          </a:xfrm>
          <a:prstGeom prst="rect">
            <a:avLst/>
          </a:prstGeom>
          <a:solidFill>
            <a:srgbClr val="0F2233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292607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78308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Payouts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178308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Collections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178308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eTIMS invoices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78308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Invoice ↔ payment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04119" y="178308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Approvals &amp; ledger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14600"/>
            <a:ext cx="10881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292607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M-Pesa business portals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51460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9F6E"/>
                </a:solidFill>
                <a:latin typeface="Calibri"/>
              </a:rPr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51460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9F6E"/>
                </a:solidFill>
                <a:latin typeface="Calibri"/>
              </a:rPr>
              <a:t>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51460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B83"/>
                </a:solidFill>
                <a:latin typeface="Calibri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51460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B83"/>
                </a:solidFill>
                <a:latin typeface="Calibri"/>
              </a:rP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19" y="251460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B83"/>
                </a:solidFill>
                <a:latin typeface="Calibri"/>
              </a:rPr>
              <a:t>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46120"/>
            <a:ext cx="10881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3246120"/>
            <a:ext cx="292607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Invoicing / accounting apps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24612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B83"/>
                </a:solidFill>
                <a:latin typeface="Calibri"/>
              </a:rPr>
              <a:t>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324612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B83"/>
                </a:solidFill>
                <a:latin typeface="Calibri"/>
              </a:rPr>
              <a:t>Partial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24612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9F6E"/>
                </a:solidFill>
                <a:latin typeface="Calibri"/>
              </a:rP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24612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B83"/>
                </a:solidFill>
                <a:latin typeface="Calibri"/>
              </a:rPr>
              <a:t>Partial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19" y="324612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B83"/>
                </a:solidFill>
                <a:latin typeface="Calibri"/>
              </a:rPr>
              <a:t>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977640"/>
            <a:ext cx="10881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3977640"/>
            <a:ext cx="292607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Payment gateways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97764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B83"/>
                </a:solidFill>
                <a:latin typeface="Calibri"/>
              </a:rPr>
              <a:t>Partial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397764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9F6E"/>
                </a:solidFill>
                <a:latin typeface="Calibri"/>
              </a:rP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97764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B83"/>
                </a:solidFill>
                <a:latin typeface="Calibri"/>
              </a:rPr>
              <a:t>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97764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B83"/>
                </a:solidFill>
                <a:latin typeface="Calibri"/>
              </a:rPr>
              <a:t>Partial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19" y="397764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B83"/>
                </a:solidFill>
                <a:latin typeface="Calibri"/>
              </a:rPr>
              <a:t>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709160"/>
            <a:ext cx="10881360" cy="658368"/>
          </a:xfrm>
          <a:prstGeom prst="rect">
            <a:avLst/>
          </a:prstGeom>
          <a:solidFill>
            <a:srgbClr val="EAF1FF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7240" y="4709160"/>
            <a:ext cx="292607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Z-float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470916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9F6E"/>
                </a:solidFill>
                <a:latin typeface="Calibri"/>
              </a:rPr>
              <a:t>Yes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470916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9F6E"/>
                </a:solidFill>
                <a:latin typeface="Calibri"/>
              </a:rPr>
              <a:t>Yes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70916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9F6E"/>
                </a:solidFill>
                <a:latin typeface="Calibri"/>
              </a:rPr>
              <a:t>Yes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470916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9F6E"/>
                </a:solidFill>
                <a:latin typeface="Calibri"/>
              </a:rPr>
              <a:t>Yes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19" y="470916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9F6E"/>
                </a:solidFill>
                <a:latin typeface="Calibri"/>
              </a:rPr>
              <a:t>Yes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B83"/>
                </a:solidFill>
                <a:latin typeface="Calibri"/>
              </a:rPr>
              <a:t>Category comparison, not a claim about any named vendor.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Z-float · Business payments for Kenya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63FF"/>
                </a:solidFill>
                <a:latin typeface="Calibri"/>
              </a:rPr>
              <a:t>TRACTION &amp;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Production-grade engineering, ready for pilots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63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collection channels live in sandbox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7830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63FF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51460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KRA tax bands (A–E) computed per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830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63FF"/>
                </a:solidFill>
                <a:latin typeface="Calibri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51460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of payments balanced on a double-entry ledger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7830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63FF"/>
                </a:solidFill>
                <a:latin typeface="Calibr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51460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editable fields on a signed KRA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108813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463FF"/>
                </a:solidFill>
                <a:latin typeface="Calibri"/>
              </a:rPr>
              <a:t>•  </a:t>
            </a:r>
            <a:r>
              <a:rPr sz="1500" b="0">
                <a:solidFill>
                  <a:srgbClr val="0F172A"/>
                </a:solidFill>
                <a:latin typeface="Calibri"/>
              </a:rPr>
              <a:t>Built: payouts, approvals, reconciliation, collections, eTIMS (OSCU/VSCU adapter + sandbox signer), identity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463FF"/>
                </a:solidFill>
                <a:latin typeface="Calibri"/>
              </a:rPr>
              <a:t>•  </a:t>
            </a:r>
            <a:r>
              <a:rPr sz="1500" b="0">
                <a:solidFill>
                  <a:srgbClr val="0F172A"/>
                </a:solidFill>
                <a:latin typeface="Calibri"/>
              </a:rPr>
              <a:t>Automated tests on real PostgreSQL cover money movement, idempotency and fiscal immutability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463FF"/>
                </a:solidFill>
                <a:latin typeface="Calibri"/>
              </a:rPr>
              <a:t>•  </a:t>
            </a:r>
            <a:r>
              <a:rPr sz="1500" b="0">
                <a:solidFill>
                  <a:srgbClr val="0F172A"/>
                </a:solidFill>
                <a:latin typeface="Calibri"/>
              </a:rPr>
              <a:t>Next: KRA OSCU certification + Safaricom production go-live with design partners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Z-float · Business payments for Kenya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63FF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Next 12 months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468880" cy="201168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Q1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83"/>
                </a:solidFill>
                <a:latin typeface="Calibri"/>
              </a:rPr>
              <a:t>KRA OSCU certification · Daraja production · 10 design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2606040"/>
            <a:ext cx="3383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463FF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1828800"/>
            <a:ext cx="2468880" cy="201168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584448" y="1938528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Q2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83"/>
                </a:solidFill>
                <a:latin typeface="Calibri"/>
              </a:rPr>
              <a:t>Item catalogue sync · recurring invoices · SMS reminders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168" y="2606040"/>
            <a:ext cx="3383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463FF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828800"/>
            <a:ext cx="2468880" cy="201168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91656" y="1938528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Q3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83"/>
                </a:solidFill>
                <a:latin typeface="Calibri"/>
              </a:rPr>
              <a:t>Purchase-invoice validation · accountant workspace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23376" y="2606040"/>
            <a:ext cx="3383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463FF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61704" y="1828800"/>
            <a:ext cx="2468880" cy="201168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98864" y="1938528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Q4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83"/>
                </a:solidFill>
                <a:latin typeface="Calibri"/>
              </a:rPr>
              <a:t>Airtel Money &amp; cards · multi-branch devices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1088136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463FF"/>
                </a:solidFill>
                <a:latin typeface="Calibri"/>
              </a:rPr>
              <a:t>Goal: the default way a Kenyan SME moves money and proves it to KRA.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Z-float · Business payments for Kenya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83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FB3FF"/>
                </a:solidFill>
                <a:latin typeface="Calibr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Partner with us to go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03520" cy="3931920"/>
          </a:xfrm>
          <a:prstGeom prst="roundRect">
            <a:avLst>
              <a:gd name="adj" fmla="val 2790"/>
            </a:avLst>
          </a:prstGeom>
          <a:solidFill>
            <a:srgbClr val="16304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73152" cy="39319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8463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We are looking for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C9D6EA"/>
                </a:solidFill>
                <a:latin typeface="Calibri"/>
              </a:rPr>
              <a:t>Design-partner businesses (distributors, clinics, schools)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C9D6EA"/>
                </a:solidFill>
                <a:latin typeface="Calibri"/>
              </a:rPr>
              <a:t>Accounting firms managing eTIMS for SMEs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C9D6EA"/>
                </a:solidFill>
                <a:latin typeface="Calibri"/>
              </a:rPr>
              <a:t>Banking / PSP partners for settlement and collections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C9D6EA"/>
                </a:solidFill>
                <a:latin typeface="Calibri"/>
              </a:rPr>
              <a:t>Seed funding for certification, go-to-market and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737360"/>
            <a:ext cx="5303520" cy="3931920"/>
          </a:xfrm>
          <a:prstGeom prst="roundRect">
            <a:avLst>
              <a:gd name="adj" fmla="val 2790"/>
            </a:avLst>
          </a:prstGeom>
          <a:solidFill>
            <a:srgbClr val="16304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254496" y="1737360"/>
            <a:ext cx="73152" cy="3931920"/>
          </a:xfrm>
          <a:prstGeom prst="rect">
            <a:avLst/>
          </a:prstGeom>
          <a:solidFill>
            <a:srgbClr val="14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28816" y="1920240"/>
            <a:ext cx="48463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What you get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C9D6EA"/>
                </a:solidFill>
                <a:latin typeface="Calibri"/>
              </a:rPr>
              <a:t>Early access and influence on the roadmap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C9D6EA"/>
                </a:solidFill>
                <a:latin typeface="Calibri"/>
              </a:rPr>
              <a:t>Preferential pricing for the first year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C9D6EA"/>
                </a:solidFill>
                <a:latin typeface="Calibri"/>
              </a:rPr>
              <a:t>Hands-on onboarding to eTIMS and M-Pesa collections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63FF"/>
                </a:solidFill>
                <a:latin typeface="Calibri"/>
              </a:rPr>
              <a:t>•  </a:t>
            </a:r>
            <a:r>
              <a:rPr sz="1400" b="0">
                <a:solidFill>
                  <a:srgbClr val="C9D6EA"/>
                </a:solidFill>
                <a:latin typeface="Calibri"/>
              </a:rPr>
              <a:t>A single view of money in, money out and 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A3BF"/>
                </a:solidFill>
                <a:latin typeface="Calibri"/>
              </a:rPr>
              <a:t>Z-float · Business payments for Kenya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FA3BF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