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Z-float in one line: the operating account for a Kenyan business. This release adds the receiving side (collections), KRA eTIMS electronic invoices and receipts, and full identity (ID number + KRA PIN) on every person we deal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pains we hear from finance teams: money moves in many rails, tax compliance is now digital and mandatory, and phone numbers alone do not identify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pillars. Everything posts to the same double-entry ledger, so the balance, the invoices and the tax records always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payout engine that already exists: every payment is idempotent, policy-checked and approved before it moves; the ledger reserves funds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New: the receiving side. Four channels, one collections ledger. Each successful payment credits the wallet through a balanced funding journal, settles the linked invoice and triggers an eTIMS receipt through the outbox.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eTIMS: we integrate with KRA's OSCU API (VSCU for high volume). Device initialisation returns a communication key we store encrypted. Each sale is sent to saveTrnsSalesOsdc; KRA returns the receipt number, signature, SCU ID and MRC which we print with the verification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everywhere: recipients, customers, payers and team members carry ID type, ID number and KRA PIN, validated and normalised. One search box resolves a phone, ID number or KRA PIN.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is the product. These are the invariants tests enforce on every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Monorepo: Next.js 14 web + API, a BullMQ worker and an outbox relay, all sharing typed packages. Providers and the eTIMS client are adapters, so sandbox and production differ only by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what it takes to go live: KRA OSCU approval and device serial, Safaricom Daraja production credentials with STK and C2B, and the configuration flags. Then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7315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8638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Z-float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4980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Pay out. Get paid.</a:t>
            </a:r>
            <a:br/>
            <a:r>
              <a:rPr sz="4400" b="1">
                <a:solidFill>
                  <a:srgbClr val="FFFFFF"/>
                </a:solidFill>
                <a:latin typeface="Calibri"/>
              </a:rPr>
              <a:t>Stay KRA-compliant.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A"/>
                </a:solidFill>
                <a:latin typeface="Calibri"/>
              </a:rPr>
              <a:t>Z-float is the business payments platform for Kenya — M-Pesa &amp; bank payouts, inbound collections and KRA eTIMS invoicing on one double-entry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3BF"/>
                </a:solidFill>
                <a:latin typeface="Calibri"/>
              </a:rPr>
              <a:t>System overview · 2026 release: collections, eTIMS e-invoicing &amp; identity</a:t>
            </a:r>
          </a:p>
        </p:txBody>
      </p:sp>
      <p:pic>
        <p:nvPicPr>
          <p:cNvPr id="8" name="Picture 7" descr="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371600"/>
            <a:ext cx="3840480" cy="35597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Kenyan businesses run money on scattered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74720" cy="356616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356616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Money in, money out — separately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Payouts on one portal, M-Pesa paybill statements in another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Manual matching of who paid which invoice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No single balance the team trusts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737360"/>
            <a:ext cx="3474720" cy="356616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361688" y="1737360"/>
            <a:ext cx="73152" cy="356616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36007" y="1920240"/>
            <a:ext cx="30175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Tax compliance went digital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Every sale needs an eTIMS invoice or receipt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Expenses without an eTIMS invoice are no longer deductible (Finance Act 2025)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Penalty: double the tax due or KES 2M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37360"/>
            <a:ext cx="3474720" cy="356616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083296" y="1737360"/>
            <a:ext cx="73152" cy="356616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57616" y="1920240"/>
            <a:ext cx="30175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A phone number is not an identity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Numbers are shared, recycled, and mistyped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Two “John Otieno”s in the payee book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Buyers need their KRA PIN on invoices to claim VAT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Sources: Tax Procedures Act as amended by Finance Act 2025 (s.23A, eTIMS); KRA income &amp; expense validation notice.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One account for every shilling that moves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6060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301752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48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Pay out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M-Pesa B2C, paybill, till &amp; bank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Bulk CSV, payroll, suppliers, bills, airtime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Schedules &amp; payment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6060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73152" cy="30175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03320" y="1920240"/>
            <a:ext cx="2148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Get paid  · NEW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M-Pesa STK request-to-pay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Paybill/Till C2B with invoice routing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Payment links &amp; bank transfers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6060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301752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2148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Comply  · NEW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KRA eTIMS invoices, receipts, credit notes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OSCU / VSCU device integration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ID number + KRA PIN on every party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737360"/>
            <a:ext cx="26060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006839" y="1737360"/>
            <a:ext cx="73152" cy="301752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81159" y="1920240"/>
            <a:ext cx="2148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Control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Maker-checker approvals &amp; limits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Double-entry ledger, reconciliation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Audit trail, webhooks, public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Customer pays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STK · C2B · link ·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303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0292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11879" y="513892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Wallet credited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balanced journal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303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0292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46520" y="513892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Invoice settled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PAID / 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303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0292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81160" y="513892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eTIMS receipt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KRA-signed, 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PAYING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Disburse to anyone on M-Pesa or bank —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Single, bulk and scheduled payments to phones, tills, paybills and bank accounts.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Approval policies by amount, role and payee risk (maker-checker)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New payees need an independent approver before they receive funds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Funds reserved on the ledger before the provider is called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Idempotent APIs, provider circuit breakers, stuck-payment monitor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Payroll, supplier bills, airtime and expense claims built in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897880" cy="4095750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RECEIVING PAYMENTS ·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Collect by M-Pesa prompt, paybill, link or bank</a:t>
            </a:r>
          </a:p>
        </p:txBody>
      </p:sp>
      <p:pic>
        <p:nvPicPr>
          <p:cNvPr id="4" name="Picture 3" descr="coll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035040" cy="4190999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995160" y="1645920"/>
            <a:ext cx="45720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M-Pesa STK push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PIN prompt on the payer’s phone; callback settles it.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Paybill / Till (C2B)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Account ACME-INV-000123 routes to the business and the invoice. Unknown accounts rejected at validation or parked for recon.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Payment links &amp; bank transfers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Links cap uses atomically; bank references can only be recorded once.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Safe by construction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Idempotent on CheckoutRequestID / TransID; late callbacks after expiry still credit; row locks prevent double credit.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KRA ETIMS ·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Electronic tax invoices &amp; receipts, signed by KRA</a:t>
            </a:r>
          </a:p>
        </p:txBody>
      </p:sp>
      <p:pic>
        <p:nvPicPr>
          <p:cNvPr id="4" name="Picture 3" descr="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4297680" cy="3983522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21208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What the business gets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Tax invoices, receipts and credit notes with VAT A–E computed per line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Automatic eTIMS receipt for every payment received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Buyer KRA PIN printed so customers can claim input VAT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Shareable link + QR that verifies on the KRA portal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How it works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OSCU API: selectInitOsdcInfo → cmcKey (encrypted at rest) → saveTrnsSalesOsdc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Sequential invoice numbers per device under a row lock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KRA outage? Documents queue and retry; rejections surface for a human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Signed documents are immutable in the database — corrections are credit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IDENTITY ·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ID number + KRA PIN — not just a phone number</a:t>
            </a:r>
          </a:p>
        </p:txBody>
      </p:sp>
      <p:pic>
        <p:nvPicPr>
          <p:cNvPr id="4" name="Picture 3" descr="recip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035040" cy="4190999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995160" y="1645920"/>
            <a:ext cx="45720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Captured on recipients, customers, payers and team members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National ID, Alien ID, Passport, Military ID, Company registration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KRA PIN validated (A/P + 9 digits + letter) and classified individual vs business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Duplicate guard: the same PIN or ID can’t be added twice by accident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One search box: phone, ID number or KRA PIN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ID numbers masked in lists; changes are audited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Payer PIN flows straight onto their eTIMS 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CONTROLS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Built like a bank ledger, not a spreadsheet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192024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Double-entry ledger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Every credit and debit is a balanced journal; a health check proves it every 10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343400" y="1737360"/>
            <a:ext cx="73152" cy="192024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Maker-checker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Payments, reversals, new payees and privileged roles need an independent approver.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7373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046719" y="1737360"/>
            <a:ext cx="73152" cy="19202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Idempotency everywhere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API keys, provider callbacks (CheckoutRequestID, TransID) and bank refs dedupe.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73152" cy="192024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Transactional outbox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Receipts, notifications and webhooks are published exactly once, after commit.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86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43400" y="3886200"/>
            <a:ext cx="73152" cy="192024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7720" y="406908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Immutable fiscal records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A database trigger blocks edits/deletes of KRA-signed documents.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8862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46719" y="3886200"/>
            <a:ext cx="73152" cy="192024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Secrets &amp; audit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Device keys AES-GCM encrypted; callbacks token-checked; every change audited.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Typed monorepo, adapters at the edges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91640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Portal (Next.js 14) · Public API · Hosted pay &amp; receipt pages · Provider webhooks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87752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E8F7F0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Domain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87752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payments-core · collections · etims · ledger · approvals · validation · auth/RBAC ·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83864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483864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83864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Worker (BullMQ/Redis): executions, callbacks, reconciliation, eTIMS retries, STK expiry · Outbox relay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79976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3F4F8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379976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Adapters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79976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M-Pesa Daraja (B2C, STK, C2B) · Bank PSP · Airtime · KRA eTIMS OSCU / VSCU / sandbox signer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76088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5276088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276088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83"/>
                </a:solidFill>
                <a:latin typeface="Calibri"/>
              </a:rPr>
              <a:t>PostgreSQL (Drizzle, SQL migrations, triggers) · Redis · Object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3FF"/>
                </a:solidFill>
                <a:latin typeface="Calibri"/>
              </a:rPr>
              <a:t>GO-LIVE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From sandbox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206240"/>
          </a:xfrm>
          <a:prstGeom prst="roundRect">
            <a:avLst>
              <a:gd name="adj" fmla="val 2608"/>
            </a:avLst>
          </a:prstGeom>
          <a:solidFill>
            <a:srgbClr val="16304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420624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Go-live checklist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KRA: apply for OSCU (or VSCU) on the eTIMS portal / GavaConnect; receive device serial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Set ETIMS_DRIVER=oscu, ETIMS_ENVIRONMENT=production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Map items to KRA item classification codes (placeholder today)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Safaricom Daraja production app: STK passkey, C2B URL registration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Set MPESA_C2B_CALLBACK_TOKEN; enable external validation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Run the certification test cases in the KRA sandbox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737360"/>
            <a:ext cx="5303520" cy="4206240"/>
          </a:xfrm>
          <a:prstGeom prst="roundRect">
            <a:avLst>
              <a:gd name="adj" fmla="val 2608"/>
            </a:avLst>
          </a:prstGeom>
          <a:solidFill>
            <a:srgbClr val="16304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254496" y="1737360"/>
            <a:ext cx="73152" cy="420624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28816" y="192024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Roadmap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Item catalogue synced with KRA (saveItem, stock movements)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Purchase invoices: pull supplier eTIMS invoices to validate expenses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Recurring invoices &amp; automatic payment reminders by SMS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Customer statements and aged-receivables report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Card and Airtel Money collections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C9D6EA"/>
                </a:solidFill>
                <a:latin typeface="Calibri"/>
              </a:rPr>
              <a:t>Multi-branch eTIMS devices (bhfId per branch)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A3BF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A3B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